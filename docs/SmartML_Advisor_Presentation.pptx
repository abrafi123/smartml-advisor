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82" r:id="rId21"/>
    <p:sldId id="283" r:id="rId22"/>
    <p:sldId id="284" r:id="rId23"/>
    <p:sldId id="285" r:id="rId24"/>
    <p:sldId id="286" r:id="rId25"/>
    <p:sldId id="287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7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11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4F46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F43F5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COMILLA UNIVERSITY  ::  DEPARTMENT OF COMPUTER SCIENCE AND ENGINEERING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SmartML Advisor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Machine Learning Algorithm Recommendation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1463040" cy="36576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 Bakar Rafi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(ID: 12208039)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Zahidur Rahman, Lecturer, Dept. of CSE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CSE-3210 :: Software Project Lab (SPL)  |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70432" y="15819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21992"/>
            <a:ext cx="384048" cy="38404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0432" y="220370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843784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0432" y="282549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0432" y="344728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08736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0432" y="40690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384048" cy="38404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70432" y="469087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5330952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70432" y="531266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952744"/>
            <a:ext cx="384048" cy="38404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952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70432" y="593445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09360" y="1600200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39712" y="15819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Design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09360" y="2221992"/>
            <a:ext cx="384048" cy="38404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39712" y="220370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Development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09360" y="2843784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39712" y="282549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09360" y="3465576"/>
            <a:ext cx="384048" cy="38404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39712" y="344728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09360" y="408736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39712" y="40690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09360" y="4709160"/>
            <a:ext cx="384048" cy="38404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39712" y="469087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09360" y="5330952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39712" y="531266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09360" y="5952744"/>
            <a:ext cx="384048" cy="38404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5952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39712" y="593445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92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selection is critical in student projects &amp; early-stage prototypes, yet remains scattered across notebooks, blogs, and ad-hoc peer advice.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rarely understand the assumptions behind different ML algorithms.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combine automated dataset analysis with transparent, rule-based guidance in one accessible web app.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traced back to a human-readable rule — not a hidden statistical score.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3931920"/>
          </a:xfrm>
          <a:prstGeom prst="roundRect">
            <a:avLst>
              <a:gd name="adj" fmla="val 2791"/>
            </a:avLst>
          </a:prstGeom>
          <a:solidFill>
            <a:srgbClr val="EEF2FF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8288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772400" y="26060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reasoning reduces blind trial-and-error and builds real understanding of algorithm behavior.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0" y="4572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Core motivation behind SmartML Advisor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don't understand the assumptions behind different algorithms.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trial-and-error doesn't scale as candidate algorithms grow.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AutoML systems are computationally expensive and act as black boxes.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class imbalance, and problem type are rarely checked before an algorithm is chosen.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920240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1E1B4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0" y="24688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secure, traceable, database-driven system exists that profiles a dataset and explains — in plain language — why one algorithm suits it better than another.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Build a reliable, database-driven platform that helps users select the most suitable ML algorithm through transparent, rule-based reasoning.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2278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multi-user authentication (registration, login, sessions)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6060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788920"/>
            <a:ext cx="365760" cy="36576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32278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profiling of CSV/Excel datasets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6060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78892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32278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 engine to rank ML algorithms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389120"/>
            <a:ext cx="365760" cy="36576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8280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human-readable justifications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43400" y="42062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438912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26280" y="48280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library of algorithm strengths &amp; weaknesses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38160" y="42062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4389120"/>
            <a:ext cx="365760" cy="36576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21040" y="48280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history of uploads, recommendations &amp; feedback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Trial-and-Error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several algorithms via scikit-learn and compare metrics informally.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931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no setup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526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scale; no explanation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1E1B4B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874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AutoML Systems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5603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Auto-sklearn — automatically searches algorithms &amp; hyperparameters.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3931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competitive models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4526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&amp; black-box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874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Meta-Learning Recommenders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25603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dataset meta-features to predict the best algorithm.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3931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accuracy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4526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large historical meta-dataset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— SmartML Advisor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3794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authenticated web portal with JWT sessions &amp; bcrypt hashing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70662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56032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dataset profiling: rows/columns, types, missing values, duplicates, class balance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57530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42900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 engine ranking algorithms with a human-readable reason per rule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4439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29768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algorithm reference library, browsable without any upload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531266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16636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upload/recommendation history and user feedback in a normalized MySQL database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Works — Feature Gap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20624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Trial-and-Error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AutoML (Auto-sklearn)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SmartML Advisor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multi-user portal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dataset profiling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explainable scoring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Human-readable reasons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reference library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Upload/recommendation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result without 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56232"/>
            <a:ext cx="457200" cy="109728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2082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(Python)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routing, validation, business logic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856232"/>
            <a:ext cx="457200" cy="109728"/>
          </a:xfrm>
          <a:prstGeom prst="roundRect">
            <a:avLst/>
          </a:prstGeom>
          <a:solidFill>
            <a:srgbClr val="F43F5E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02082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+ SQLAlchemy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12-table relational schema via ORM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856232"/>
            <a:ext cx="457200" cy="109728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02082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+ bcrypt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tokens &amp; password hashing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502152"/>
            <a:ext cx="457200" cy="109728"/>
          </a:xfrm>
          <a:prstGeom prst="roundRect">
            <a:avLst/>
          </a:prstGeom>
          <a:solidFill>
            <a:srgbClr val="F43F5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6674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/ NumPy / SciPy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loading &amp; statistical profiling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3375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3502152"/>
            <a:ext cx="457200" cy="109728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366674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4114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reference &amp; scoring criteria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33375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3502152"/>
            <a:ext cx="457200" cy="109728"/>
          </a:xfrm>
          <a:prstGeom prst="roundRect">
            <a:avLst/>
          </a:prstGeom>
          <a:solidFill>
            <a:srgbClr val="F43F5E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366674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API (llama-3.1-8b-instant)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4114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AI chat assistant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5148072"/>
            <a:ext cx="457200" cy="109728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31266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Jinja2 + Uvicorn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5760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templates &amp; ASGI server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4" name="Image 0" descr="/home/claude/figs/fig3_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26" y="1508760"/>
            <a:ext cx="7230108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60020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EEF2FF"/>
          </a:solidFill>
          <a:ln/>
        </p:spPr>
      </p:sp>
      <p:sp>
        <p:nvSpPr>
          <p:cNvPr id="6" name="Text 3"/>
          <p:cNvSpPr/>
          <p:nvPr/>
        </p:nvSpPr>
        <p:spPr>
          <a:xfrm>
            <a:off x="845820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Design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58200" y="2194560"/>
            <a:ext cx="2971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Presentation: Browser + Jinja2 templates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FastAPI routers, services, JWT/bcrypt auth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MySQL (12 tables), file storage, external Groq LLM API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METHODOLOGY &amp;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pic>
        <p:nvPicPr>
          <p:cNvPr id="4" name="Image 0" descr="/home/claude/figs/fig3_2_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439" y="1554480"/>
            <a:ext cx="7744641" cy="4251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User: register, login, upload, view results, browse library, history, feedback, chat  |  Admin: adds algorithm-library management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METHODOLOGY &amp;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Diagram (Level-0 DFD)</a:t>
            </a:r>
            <a:endParaRPr lang="en-US" sz="3000" dirty="0"/>
          </a:p>
        </p:txBody>
      </p:sp>
      <p:pic>
        <p:nvPicPr>
          <p:cNvPr id="4" name="Image 0" descr="/home/claude/figs/fig3_3_context_d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968" y="1554480"/>
            <a:ext cx="7477585" cy="4251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 as one process exchanging data with the User, Admin, and the external GenAI API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METHODOLOGY &amp;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</a:t>
            </a:r>
            <a:endParaRPr lang="en-US" sz="3000" dirty="0"/>
          </a:p>
        </p:txBody>
      </p:sp>
      <p:pic>
        <p:nvPicPr>
          <p:cNvPr id="4" name="Image 0" descr="/home/claude/figs/fig3_5_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996" y="1554480"/>
            <a:ext cx="7653528" cy="4251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relational tables spanning identity, upload/profiling, recommendation, and feedback/auditing groups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METHODOLOGY &amp;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Sequence Diagram</a:t>
            </a:r>
            <a:endParaRPr lang="en-US" sz="3000" dirty="0"/>
          </a:p>
        </p:txBody>
      </p:sp>
      <p:pic>
        <p:nvPicPr>
          <p:cNvPr id="4" name="Image 0" descr="/home/claude/figs/fig3_6_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742" y="1554480"/>
            <a:ext cx="8754035" cy="4251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Profile → Score → Persist → Display, across Browser, FastAPI Router, Data Profiler, ML Recommender, and MySQL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SYSTEM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Flow</a:t>
            </a:r>
            <a:endParaRPr lang="en-US" sz="3000" dirty="0"/>
          </a:p>
        </p:txBody>
      </p:sp>
      <p:pic>
        <p:nvPicPr>
          <p:cNvPr id="4" name="Image 0" descr="/home/claude/figs/fig4_1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07472"/>
            <a:ext cx="5394960" cy="2591696"/>
          </a:xfrm>
          <a:prstGeom prst="rect">
            <a:avLst/>
          </a:prstGeom>
        </p:spPr>
      </p:pic>
      <p:pic>
        <p:nvPicPr>
          <p:cNvPr id="5" name="Image 1" descr="/home/claude/figs/fig4_2_regi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433918"/>
            <a:ext cx="5394960" cy="25388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989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217920" y="5989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Page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SYSTEM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Dashboard</a:t>
            </a:r>
            <a:endParaRPr lang="en-US" sz="3000" dirty="0"/>
          </a:p>
        </p:txBody>
      </p:sp>
      <p:pic>
        <p:nvPicPr>
          <p:cNvPr id="4" name="Image 0" descr="/home/claude/figs/fig4_3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224" y="1600200"/>
            <a:ext cx="9581072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for uploads, recommendations, reference library, history &amp; chat assistant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SYSTEM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→ Recommendation Result</a:t>
            </a:r>
            <a:endParaRPr lang="en-US" sz="3000" dirty="0"/>
          </a:p>
        </p:txBody>
      </p:sp>
      <p:pic>
        <p:nvPicPr>
          <p:cNvPr id="4" name="Image 0" descr="/home/claude/figs/fig4_4_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39969"/>
            <a:ext cx="5394960" cy="2618142"/>
          </a:xfrm>
          <a:prstGeom prst="rect">
            <a:avLst/>
          </a:prstGeom>
        </p:spPr>
      </p:pic>
      <p:pic>
        <p:nvPicPr>
          <p:cNvPr id="5" name="Image 1" descr="/home/claude/figs/fig4_5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527240"/>
            <a:ext cx="5394960" cy="2443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989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Upload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217920" y="5989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Algorithms with Suitability Scores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SYSTEM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Reference Library</a:t>
            </a:r>
            <a:endParaRPr lang="en-US" sz="3000" dirty="0"/>
          </a:p>
        </p:txBody>
      </p:sp>
      <p:pic>
        <p:nvPicPr>
          <p:cNvPr id="4" name="Image 0" descr="/home/claude/figs/fig4_6_algol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736688"/>
            <a:ext cx="9601200" cy="42075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Browsable by category (Classification, Regression, Clustering, Dim. Reduction, Association) — independent of any dataset upload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3-4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749808"/>
          </a:xfrm>
          <a:prstGeom prst="roundRect">
            <a:avLst>
              <a:gd name="adj" fmla="val 9756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55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user_sessions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6492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96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Reference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80720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algorithm_categories, ml_algorithms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6492240" cy="749808"/>
          </a:xfrm>
          <a:prstGeom prst="roundRect">
            <a:avLst>
              <a:gd name="adj" fmla="val 9756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Profiling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364845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file_uploads, dataset_profiles, column_statistics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123944"/>
            <a:ext cx="6492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178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448970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recommendations, recommendation_reasons, analysis_reports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65192"/>
            <a:ext cx="6492240" cy="749808"/>
          </a:xfrm>
          <a:prstGeom prst="roundRect">
            <a:avLst>
              <a:gd name="adj" fmla="val 9756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020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Auditing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1520" y="533095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user_feedback, activity_logs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1600200"/>
            <a:ext cx="4297680" cy="182880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869680" y="182880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/ FK constraints · ON DELETE CASCADE / SET NULL</a:t>
            </a:r>
            <a:endParaRPr lang="en-US" sz="1200" dirty="0"/>
          </a:p>
        </p:txBody>
      </p:sp>
      <p:sp>
        <p:nvSpPr>
          <p:cNvPr id="35" name="NormPointer"/>
          <p:cNvSpPr/>
          <p:nvPr/>
        </p:nvSpPr>
        <p:spPr>
          <a:xfrm>
            <a:off x="7315200" y="37033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Path: 1NF → 2NF → 3NF — full breakdown after the CRUD/JOIN evidence.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315200" y="45262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INNER / LEFT / RIGHT / simulated FULL OUTER / NATURAL JOINs demonstrated on live data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3-4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Normalization</a:t>
            </a:r>
            <a:endParaRPr lang="en-US" sz="3000" dirty="0"/>
          </a:p>
        </p:txBody>
      </p:sp>
      <p:sp>
        <p:nvSpPr>
          <p:cNvPr id="4" name="Card1BG"/>
          <p:cNvSpPr/>
          <p:nvPr/>
        </p:nvSpPr>
        <p:spPr>
          <a:xfrm>
            <a:off x="548640" y="1600200"/>
            <a:ext cx="3515360" cy="42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Card1NF"/>
          <p:cNvSpPr/>
          <p:nvPr/>
        </p:nvSpPr>
        <p:spPr>
          <a:xfrm>
            <a:off x="777240" y="1828800"/>
            <a:ext cx="305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3600" dirty="0"/>
          </a:p>
        </p:txBody>
      </p:sp>
      <p:sp>
        <p:nvSpPr>
          <p:cNvPr id="6" name="Card1Sub"/>
          <p:cNvSpPr/>
          <p:nvPr/>
        </p:nvSpPr>
        <p:spPr>
          <a:xfrm>
            <a:off x="777240" y="2469600"/>
            <a:ext cx="305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</a:t>
            </a:r>
            <a:endParaRPr lang="en-US" sz="1500" dirty="0"/>
          </a:p>
        </p:txBody>
      </p:sp>
      <p:sp>
        <p:nvSpPr>
          <p:cNvPr id="7" name="Card1Desc"/>
          <p:cNvSpPr/>
          <p:nvPr/>
        </p:nvSpPr>
        <p:spPr>
          <a:xfrm>
            <a:off x="777240" y="2926080"/>
            <a:ext cx="3058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and status fields store a single atomic value instead of combined or multi-valued data.</a:t>
            </a:r>
            <a:endParaRPr lang="en-US" sz="1200" dirty="0"/>
          </a:p>
        </p:txBody>
      </p:sp>
      <p:sp>
        <p:nvSpPr>
          <p:cNvPr id="8" name="Card2BG"/>
          <p:cNvSpPr/>
          <p:nvPr/>
        </p:nvSpPr>
        <p:spPr>
          <a:xfrm>
            <a:off x="4338320" y="1600200"/>
            <a:ext cx="3515360" cy="42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Card2NF"/>
          <p:cNvSpPr/>
          <p:nvPr/>
        </p:nvSpPr>
        <p:spPr>
          <a:xfrm>
            <a:off x="4566920" y="1828800"/>
            <a:ext cx="305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3600" dirty="0"/>
          </a:p>
        </p:txBody>
      </p:sp>
      <p:sp>
        <p:nvSpPr>
          <p:cNvPr id="10" name="Card2Sub"/>
          <p:cNvSpPr/>
          <p:nvPr/>
        </p:nvSpPr>
        <p:spPr>
          <a:xfrm>
            <a:off x="4566920" y="2469600"/>
            <a:ext cx="305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dependency</a:t>
            </a:r>
            <a:endParaRPr lang="en-US" sz="1500" dirty="0"/>
          </a:p>
        </p:txBody>
      </p:sp>
      <p:sp>
        <p:nvSpPr>
          <p:cNvPr id="11" name="Card2Desc"/>
          <p:cNvSpPr/>
          <p:nvPr/>
        </p:nvSpPr>
        <p:spPr>
          <a:xfrm>
            <a:off x="4566920" y="2926080"/>
            <a:ext cx="3058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non-key attribute depends on the whole primary key, never on just part of a composite key.</a:t>
            </a:r>
            <a:endParaRPr lang="en-US" sz="1200" dirty="0"/>
          </a:p>
        </p:txBody>
      </p:sp>
      <p:sp>
        <p:nvSpPr>
          <p:cNvPr id="12" name="Card3BG"/>
          <p:cNvSpPr/>
          <p:nvPr/>
        </p:nvSpPr>
        <p:spPr>
          <a:xfrm>
            <a:off x="8128000" y="1600200"/>
            <a:ext cx="3515360" cy="42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Card3NF"/>
          <p:cNvSpPr/>
          <p:nvPr/>
        </p:nvSpPr>
        <p:spPr>
          <a:xfrm>
            <a:off x="8356600" y="1828800"/>
            <a:ext cx="305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3600" dirty="0"/>
          </a:p>
        </p:txBody>
      </p:sp>
      <p:sp>
        <p:nvSpPr>
          <p:cNvPr id="14" name="Card3Sub"/>
          <p:cNvSpPr/>
          <p:nvPr/>
        </p:nvSpPr>
        <p:spPr>
          <a:xfrm>
            <a:off x="8356600" y="2469600"/>
            <a:ext cx="305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dependency</a:t>
            </a:r>
            <a:endParaRPr lang="en-US" sz="1500" dirty="0"/>
          </a:p>
        </p:txBody>
      </p:sp>
      <p:sp>
        <p:nvSpPr>
          <p:cNvPr id="15" name="Card3Desc"/>
          <p:cNvSpPr/>
          <p:nvPr/>
        </p:nvSpPr>
        <p:spPr>
          <a:xfrm>
            <a:off x="8356600" y="2926080"/>
            <a:ext cx="3058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and category data is kept in its own table rather than duplicated through a non-key attribute.</a:t>
            </a:r>
            <a:endParaRPr lang="en-US" sz="1200" dirty="0"/>
          </a:p>
        </p:txBody>
      </p:sp>
      <p:sp>
        <p:nvSpPr>
          <p:cNvPr id="16" name="PresenterCue"/>
          <p:cNvSpPr/>
          <p:nvPr/>
        </p:nvSpPr>
        <p:spPr>
          <a:xfrm>
            <a:off x="548640" y="5989320"/>
            <a:ext cx="1109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cue: walk through 1NF → 2NF → 3NF as evidence the schema is structured, consistent and ready for reliable JOINs.</a:t>
            </a:r>
            <a:endParaRPr lang="en-US" sz="1150" dirty="0"/>
          </a:p>
        </p:txBody>
      </p:sp>
      <p:sp>
        <p:nvSpPr>
          <p:cNvPr id="17" name="Text 3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18" name="Text 3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SYSTEM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CRUD Operations — Read &amp; Create</a:t>
            </a:r>
            <a:endParaRPr lang="en-US" sz="3000" dirty="0"/>
          </a:p>
        </p:txBody>
      </p:sp>
      <p:sp>
        <p:nvSpPr>
          <p:cNvPr id="10" name="Card 10"/>
          <p:cNvSpPr/>
          <p:nvPr/>
        </p:nvSpPr>
        <p:spPr>
          <a:xfrm>
            <a:off x="548640" y="1550000"/>
            <a:ext cx="5394960" cy="3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1" name="Image 11" descr="/home/claude/figs/fig_crud_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40" y="2376660"/>
            <a:ext cx="5034960" cy="1896679"/>
          </a:xfrm>
          <a:prstGeom prst="rect">
            <a:avLst/>
          </a:prstGeom>
        </p:spPr>
      </p:pic>
      <p:sp>
        <p:nvSpPr>
          <p:cNvPr id="12" name="Caption 12"/>
          <p:cNvSpPr/>
          <p:nvPr/>
        </p:nvSpPr>
        <p:spPr>
          <a:xfrm>
            <a:off x="548640" y="5200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— Initial file_uploads State</a:t>
            </a:r>
            <a:endParaRPr lang="en-US" sz="1300" dirty="0"/>
          </a:p>
        </p:txBody>
      </p:sp>
      <p:sp>
        <p:nvSpPr>
          <p:cNvPr id="13" name="Card 13"/>
          <p:cNvSpPr/>
          <p:nvPr/>
        </p:nvSpPr>
        <p:spPr>
          <a:xfrm>
            <a:off x="6217920" y="1550000"/>
            <a:ext cx="5394960" cy="3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4" name="Image 14" descr="/home/claude/figs/fig_crud_cre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920" y="2787323"/>
            <a:ext cx="5034960" cy="1075353"/>
          </a:xfrm>
          <a:prstGeom prst="rect">
            <a:avLst/>
          </a:prstGeom>
        </p:spPr>
      </p:pic>
      <p:sp>
        <p:nvSpPr>
          <p:cNvPr id="15" name="Caption 15"/>
          <p:cNvSpPr/>
          <p:nvPr/>
        </p:nvSpPr>
        <p:spPr>
          <a:xfrm>
            <a:off x="6217920" y="5200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— After Inserting New Upload</a:t>
            </a:r>
            <a:endParaRPr lang="en-US" sz="1300" dirty="0"/>
          </a:p>
        </p:txBody>
      </p:sp>
      <p:sp>
        <p:nvSpPr>
          <p:cNvPr id="16" name="Caption 16"/>
          <p:cNvSpPr/>
          <p:nvPr/>
        </p:nvSpPr>
        <p:spPr>
          <a:xfrm>
            <a:off x="548640" y="556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retrieves existing rows unchanged; CREATE inserts a new upload record with a new auto-incremented ID.</a:t>
            </a:r>
            <a:endParaRPr lang="en-US" sz="1150" dirty="0"/>
          </a:p>
        </p:txBody>
      </p:sp>
      <p:sp>
        <p:nvSpPr>
          <p:cNvPr id="98" name="Text 9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99" name="Text 9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SYSTEM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CRUD Operations — Update &amp; Delete</a:t>
            </a:r>
            <a:endParaRPr lang="en-US" sz="3000" dirty="0"/>
          </a:p>
        </p:txBody>
      </p:sp>
      <p:sp>
        <p:nvSpPr>
          <p:cNvPr id="10" name="Card 10"/>
          <p:cNvSpPr/>
          <p:nvPr/>
        </p:nvSpPr>
        <p:spPr>
          <a:xfrm>
            <a:off x="548640" y="1550000"/>
            <a:ext cx="5394960" cy="3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1" name="Image 11" descr="/home/claude/figs/fig_crud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40" y="2956392"/>
            <a:ext cx="5034960" cy="737216"/>
          </a:xfrm>
          <a:prstGeom prst="rect">
            <a:avLst/>
          </a:prstGeom>
        </p:spPr>
      </p:pic>
      <p:sp>
        <p:nvSpPr>
          <p:cNvPr id="12" name="Caption 12"/>
          <p:cNvSpPr/>
          <p:nvPr/>
        </p:nvSpPr>
        <p:spPr>
          <a:xfrm>
            <a:off x="548640" y="5200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— After Changing upload_status</a:t>
            </a:r>
            <a:endParaRPr lang="en-US" sz="1300" dirty="0"/>
          </a:p>
        </p:txBody>
      </p:sp>
      <p:sp>
        <p:nvSpPr>
          <p:cNvPr id="13" name="Card 13"/>
          <p:cNvSpPr/>
          <p:nvPr/>
        </p:nvSpPr>
        <p:spPr>
          <a:xfrm>
            <a:off x="6217920" y="1550000"/>
            <a:ext cx="5394960" cy="3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4" name="Image 14" descr="/home/claude/figs/fig_crud_de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920" y="2253104"/>
            <a:ext cx="5034960" cy="2143791"/>
          </a:xfrm>
          <a:prstGeom prst="rect">
            <a:avLst/>
          </a:prstGeom>
        </p:spPr>
      </p:pic>
      <p:sp>
        <p:nvSpPr>
          <p:cNvPr id="15" name="Caption 15"/>
          <p:cNvSpPr/>
          <p:nvPr/>
        </p:nvSpPr>
        <p:spPr>
          <a:xfrm>
            <a:off x="6217920" y="5200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After Removing Test Upload</a:t>
            </a:r>
            <a:endParaRPr lang="en-US" sz="1300" dirty="0"/>
          </a:p>
        </p:txBody>
      </p:sp>
      <p:sp>
        <p:nvSpPr>
          <p:cNvPr id="16" name="Caption 16"/>
          <p:cNvSpPr/>
          <p:nvPr/>
        </p:nvSpPr>
        <p:spPr>
          <a:xfrm>
            <a:off x="548640" y="556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modifies selected values while preserving row identity; DELETE removes the targeted test record.</a:t>
            </a:r>
            <a:endParaRPr lang="en-US" sz="1150" dirty="0"/>
          </a:p>
        </p:txBody>
      </p:sp>
      <p:sp>
        <p:nvSpPr>
          <p:cNvPr id="98" name="Text 9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99" name="Text 9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SYSTEM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JOIN Operations — INNER &amp; LEFT JOIN</a:t>
            </a:r>
            <a:endParaRPr lang="en-US" sz="3000" dirty="0"/>
          </a:p>
        </p:txBody>
      </p:sp>
      <p:sp>
        <p:nvSpPr>
          <p:cNvPr id="10" name="Card 10"/>
          <p:cNvSpPr/>
          <p:nvPr/>
        </p:nvSpPr>
        <p:spPr>
          <a:xfrm>
            <a:off x="548640" y="1550000"/>
            <a:ext cx="5394960" cy="3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1" name="Image 11" descr="/home/claude/figs/fig_join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40" y="1811257"/>
            <a:ext cx="5034960" cy="3027486"/>
          </a:xfrm>
          <a:prstGeom prst="rect">
            <a:avLst/>
          </a:prstGeom>
        </p:spPr>
      </p:pic>
      <p:sp>
        <p:nvSpPr>
          <p:cNvPr id="12" name="Caption 12"/>
          <p:cNvSpPr/>
          <p:nvPr/>
        </p:nvSpPr>
        <p:spPr>
          <a:xfrm>
            <a:off x="548640" y="5200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— Uploads, Profiles &amp; Recommendations</a:t>
            </a:r>
            <a:endParaRPr lang="en-US" sz="1300" dirty="0"/>
          </a:p>
        </p:txBody>
      </p:sp>
      <p:sp>
        <p:nvSpPr>
          <p:cNvPr id="13" name="Card 13"/>
          <p:cNvSpPr/>
          <p:nvPr/>
        </p:nvSpPr>
        <p:spPr>
          <a:xfrm>
            <a:off x="6217920" y="1550000"/>
            <a:ext cx="5394960" cy="3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4" name="Image 14" descr="/home/claude/figs/fig_join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920" y="1956326"/>
            <a:ext cx="5034960" cy="2737347"/>
          </a:xfrm>
          <a:prstGeom prst="rect">
            <a:avLst/>
          </a:prstGeom>
        </p:spPr>
      </p:pic>
      <p:sp>
        <p:nvSpPr>
          <p:cNvPr id="15" name="Caption 15"/>
          <p:cNvSpPr/>
          <p:nvPr/>
        </p:nvSpPr>
        <p:spPr>
          <a:xfrm>
            <a:off x="6217920" y="5200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— ml_algorithms &amp; recommendations</a:t>
            </a:r>
            <a:endParaRPr lang="en-US" sz="1300" dirty="0"/>
          </a:p>
        </p:txBody>
      </p:sp>
      <p:sp>
        <p:nvSpPr>
          <p:cNvPr id="16" name="Caption 16"/>
          <p:cNvSpPr/>
          <p:nvPr/>
        </p:nvSpPr>
        <p:spPr>
          <a:xfrm>
            <a:off x="548640" y="556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returns only matching rows across all tables; LEFT JOIN keeps every algorithm, even those never recommended.</a:t>
            </a:r>
            <a:endParaRPr lang="en-US" sz="1150" dirty="0"/>
          </a:p>
        </p:txBody>
      </p:sp>
      <p:sp>
        <p:nvSpPr>
          <p:cNvPr id="98" name="Text 9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99" name="Text 9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SYSTEM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JOIN Operations — RIGHT &amp; FULL OUTER JOIN</a:t>
            </a:r>
            <a:endParaRPr lang="en-US" sz="3000" dirty="0"/>
          </a:p>
        </p:txBody>
      </p:sp>
      <p:sp>
        <p:nvSpPr>
          <p:cNvPr id="10" name="Card 10"/>
          <p:cNvSpPr/>
          <p:nvPr/>
        </p:nvSpPr>
        <p:spPr>
          <a:xfrm>
            <a:off x="548640" y="1550000"/>
            <a:ext cx="5394960" cy="3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1" name="Image 11" descr="/home/claude/figs/fig_join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662" y="1730000"/>
            <a:ext cx="3612916" cy="3190000"/>
          </a:xfrm>
          <a:prstGeom prst="rect">
            <a:avLst/>
          </a:prstGeom>
        </p:spPr>
      </p:pic>
      <p:sp>
        <p:nvSpPr>
          <p:cNvPr id="12" name="Caption 12"/>
          <p:cNvSpPr/>
          <p:nvPr/>
        </p:nvSpPr>
        <p:spPr>
          <a:xfrm>
            <a:off x="548640" y="5200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 — ml_algorithms &amp; algorithm_categories</a:t>
            </a:r>
            <a:endParaRPr lang="en-US" sz="1300" dirty="0"/>
          </a:p>
        </p:txBody>
      </p:sp>
      <p:sp>
        <p:nvSpPr>
          <p:cNvPr id="13" name="Card 13"/>
          <p:cNvSpPr/>
          <p:nvPr/>
        </p:nvSpPr>
        <p:spPr>
          <a:xfrm>
            <a:off x="6217920" y="1550000"/>
            <a:ext cx="5394960" cy="3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4" name="Image 14" descr="/home/claude/figs/fig_join_fullou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920" y="1783246"/>
            <a:ext cx="5034960" cy="3083508"/>
          </a:xfrm>
          <a:prstGeom prst="rect">
            <a:avLst/>
          </a:prstGeom>
        </p:spPr>
      </p:pic>
      <p:sp>
        <p:nvSpPr>
          <p:cNvPr id="15" name="Caption 15"/>
          <p:cNvSpPr/>
          <p:nvPr/>
        </p:nvSpPr>
        <p:spPr>
          <a:xfrm>
            <a:off x="6217920" y="5200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 (simulated) — Users &amp; Uploads</a:t>
            </a:r>
            <a:endParaRPr lang="en-US" sz="1300" dirty="0"/>
          </a:p>
        </p:txBody>
      </p:sp>
      <p:sp>
        <p:nvSpPr>
          <p:cNvPr id="16" name="Caption 16"/>
          <p:cNvSpPr/>
          <p:nvPr/>
        </p:nvSpPr>
        <p:spPr>
          <a:xfrm>
            <a:off x="548640" y="556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 preserves every category; MySQL lacks native FULL OUTER JOIN, so it is simulated via LEFT JOIN + RIGHT JOIN + UNION.</a:t>
            </a:r>
            <a:endParaRPr lang="en-US" sz="1150" dirty="0"/>
          </a:p>
        </p:txBody>
      </p:sp>
      <p:sp>
        <p:nvSpPr>
          <p:cNvPr id="98" name="Text 9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99" name="Text 9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SYSTEM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JOIN Operations — NATURAL JOIN</a:t>
            </a:r>
            <a:endParaRPr lang="en-US" sz="3000" dirty="0"/>
          </a:p>
        </p:txBody>
      </p:sp>
      <p:sp>
        <p:nvSpPr>
          <p:cNvPr id="10" name="Card 10"/>
          <p:cNvSpPr/>
          <p:nvPr/>
        </p:nvSpPr>
        <p:spPr>
          <a:xfrm>
            <a:off x="3219065" y="1736688"/>
            <a:ext cx="5723390" cy="420758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1" name="Image 11" descr="/home/claude/figs/fig_join_nat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065" y="2096688"/>
            <a:ext cx="5003390" cy="3487585"/>
          </a:xfrm>
          <a:prstGeom prst="rect">
            <a:avLst/>
          </a:prstGeom>
        </p:spPr>
      </p:pic>
      <p:sp>
        <p:nvSpPr>
          <p:cNvPr id="12" name="Caption 12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views on the shared upload_id attribute, avoiding accidental matches on generic id columns.</a:t>
            </a:r>
            <a:endParaRPr lang="en-US" sz="1250" dirty="0"/>
          </a:p>
        </p:txBody>
      </p:sp>
      <p:sp>
        <p:nvSpPr>
          <p:cNvPr id="98" name="Text 9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99" name="Text 9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/ 18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 cases passed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0" y="169164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sessions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upload &amp; profiling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scoring &amp; ranking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feedback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assistant (Groq API)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1064240" cy="2011680"/>
          </a:xfrm>
          <a:prstGeom prst="roundRect">
            <a:avLst>
              <a:gd name="adj" fmla="val 5455"/>
            </a:avLst>
          </a:prstGeom>
          <a:solidFill>
            <a:srgbClr val="1E1B4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9502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Checks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JWT-protected routes reject missing/invalid tokens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verified via bcrypt (never stored in plain text)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parameterized operations prevent SQL injection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0" y="43434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sampled up to 50,000 rows for responsiveness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Groq API call doesn't crash the recommendation workflow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Uploads/ownership scoped strictly per authenticated user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Discussion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556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26,059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profiled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(weather_data.csv example)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7556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80560" y="25146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suitability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(top-ranked, handles missing values)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7556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29600" y="25146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datasets tested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three problem types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datasets (weather_data.csv, students_records.csv) correctly favored Random Forest, Decision Tree, XGBoost.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datasets (Yield_df.csv, Real_Combine.csv) favored Linear/Ridge Regression and Random Forest Regressor.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without a clear target (bal2.csv, car1.csv) were correctly routed to clustering algorithms (K-Means, DBSCAN).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unsuited to high-missing-value data (Logistic Regression, SVM) were consistently penalized — with stored, readable reasons.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the objective of a database-centered, explainable ML algorithm recommendation platform.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secure authentication, profiling, rule-based scoring, reference library, and history/feedback through one shared MySQL database.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core DBMS concepts: entity modeling, FK constraints with cascades, normalization to 3NF, all major JOIN types, ORM-based access.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engine's most distinctive contribution: translating algorithm selection from a black-box decision into a structured, traceable, explainable relational design.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hand-crafted scoring rules — not a learned meta-model.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Problem-type detection uses simple heuristics (target column name / last column).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datasets sampled to a maximum of 50,000 rows during profiling.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algorithms are not actually trained/evaluated on the user's data — scoring is purely meta-feature based.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assistant depends on a third-party hosted LLM (Groq API), adding external latency/availability risk.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is manual and scenario-based (18 cases); automated unit/security/performance tests are not yet comprehensive.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train top-ranked algorithms on a sample of the user's data and report real performance metrics (accuracy, F1, RMSE).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a trained meta-learning model using historical feedback to refine rule-based scores.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concrete preprocessing recommendations (imputation, encoding) from the stored dataset profile.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streaming/chunked processing to support datasets beyond the 50,000-row limit.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administrative dashboard for algorithm-library management and activity monitoring.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unit, integration, security, and performance test suites.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4F46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F43F5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463040" cy="36576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 Bakar Rafi  ·  ID: 12208039  ·  Dept. of CSE, Comilla University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SmartML Advisor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1904</Words>
  <Application>Microsoft Office PowerPoint</Application>
  <PresentationFormat>Widescreen</PresentationFormat>
  <Paragraphs>373</Paragraphs>
  <Slides>31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Abu Bakar</cp:lastModifiedBy>
  <cp:revision>2</cp:revision>
  <dcterms:created xsi:type="dcterms:W3CDTF">2026-08-04T23:03:03Z</dcterms:created>
  <dcterms:modified xsi:type="dcterms:W3CDTF">2026-08-05T17:21:48Z</dcterms:modified>
</cp:coreProperties>
</file>